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 collected</c:v>
                </c:pt>
              </c:strCache>
            </c:strRef>
          </c:tx>
          <c:spPr>
            <a:solidFill>
              <a:srgbClr val="F5B544"/>
            </a:solidFill>
            <a:ln w="38100" cap="flat">
              <a:solidFill>
                <a:srgbClr val="F5B5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B544"/>
              </a:solidFill>
              <a:ln w="9525" cap="flat">
                <a:solidFill>
                  <a:srgbClr val="F5B5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D-30</c:v>
                  </c:pt>
                  <c:pt idx="1">
                    <c:v>D-25</c:v>
                  </c:pt>
                  <c:pt idx="2">
                    <c:v>D-20</c:v>
                  </c:pt>
                  <c:pt idx="3">
                    <c:v>D-15</c:v>
                  </c:pt>
                  <c:pt idx="4">
                    <c:v>D-10</c:v>
                  </c:pt>
                  <c:pt idx="5">
                    <c:v>D-5</c:v>
                  </c:pt>
                  <c:pt idx="6">
                    <c:v>Now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120</c:v>
                </c:pt>
                <c:pt idx="1">
                  <c:v>180</c:v>
                </c:pt>
                <c:pt idx="2">
                  <c:v>240</c:v>
                </c:pt>
                <c:pt idx="3">
                  <c:v>320</c:v>
                </c:pt>
                <c:pt idx="4">
                  <c:v>410</c:v>
                </c:pt>
                <c:pt idx="5">
                  <c:v>480</c:v>
                </c:pt>
                <c:pt idx="6">
                  <c:v>530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7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846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7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8324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B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102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73152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37160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201168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265176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73152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137160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201168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65176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73152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137160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0" y="201168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0" y="265176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0" y="73152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0" y="137160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201168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0" y="265176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73152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0" y="137160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201168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98480" y="265176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38560" y="73152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0" y="137160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338560" y="201168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2651760"/>
            <a:ext cx="73152" cy="73152"/>
          </a:xfrm>
          <a:prstGeom prst="ellipse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2194560"/>
            <a:ext cx="109728" cy="137160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2057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5600" dirty="0"/>
          </a:p>
        </p:txBody>
      </p:sp>
      <p:sp>
        <p:nvSpPr>
          <p:cNvPr id="30" name="Text 28"/>
          <p:cNvSpPr/>
          <p:nvPr/>
        </p:nvSpPr>
        <p:spPr>
          <a:xfrm>
            <a:off x="86868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Trade Intelligence Collection &amp; Monitoring Platform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868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 .  multi-source  .  tagged persistence  .  AI reports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480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868680" y="5029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 sources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80360" y="4480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2880360" y="5029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channels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4480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4892040" y="5029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381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3816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trade analysts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138160" y="2560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compliance teams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13816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researchers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138160" y="3840480"/>
            <a:ext cx="3474720" cy="0"/>
          </a:xfrm>
          <a:prstGeom prst="line">
            <a:avLst/>
          </a:prstGeom>
          <a:noFill/>
          <a:ln w="12700">
            <a:solidFill>
              <a:srgbClr val="284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816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BRIEFING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3816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. 2026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.  TypeScript  .  FastAPI  .  SQLAlchemy 2.0  .  SQLite FTS5  .  APScheduler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.  why GatherInfo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age of information overload, intelligence work is held back by tools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70% of their time on data plumbing - not on analysis.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2697480" cy="292608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94560"/>
            <a:ext cx="2697480" cy="73152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WTO, customs, ministries, industry media scattered across hundreds of sites - manual patrol is slow and error-prone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2194560"/>
            <a:ext cx="2697480" cy="292608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2194560"/>
            <a:ext cx="2697480" cy="73152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52044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crawlers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20440" y="36118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bespoke scraper per site, broken by the next HTML change - maintenance cost dwarfs collection value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194560"/>
            <a:ext cx="2697480" cy="292608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2194560"/>
            <a:ext cx="2697480" cy="73152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0080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reuse data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36118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files everywhere, no cross-topic aggregation, no time-series or correlation analysis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280" y="2194560"/>
            <a:ext cx="2697480" cy="292608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098280" y="2194560"/>
            <a:ext cx="2697480" cy="73152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28116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report output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81160" y="36118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manual roll-up then writing then delivering - the decision window shrinks to the last mile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102544"/>
          </a:solidFill>
          <a:ln w="6350">
            <a:solidFill>
              <a:srgbClr val="2F6B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486400"/>
            <a:ext cx="109728" cy="868680"/>
          </a:xfrm>
          <a:prstGeom prst="rect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577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GatherInfo's answer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897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9 collection channels, 92 pre-built sources, a tagging system, and AI report orchestration into a single closed loop - analysts only define the topic, the rest is automated.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.  core closed loop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from keyword to deliverable report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 .  SIX STAGES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topic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templates + sources + window + cron schedule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1280160" cy="27432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rot="5400000">
            <a:off x="2148840" y="2331720"/>
            <a:ext cx="164592" cy="201168"/>
          </a:xfrm>
          <a:prstGeom prst="rtTriangl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404872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/ manual collect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404872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connectors run in parallel, unified batch_id tracking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04872" y="4297680"/>
            <a:ext cx="1280160" cy="27432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04872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rot="5400000">
            <a:off x="4096512" y="2331720"/>
            <a:ext cx="164592" cy="201168"/>
          </a:xfrm>
          <a:prstGeom prst="rtTriangl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52544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352544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and persist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352544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hash + content fingerprint double-dedupe, FTS5 indexed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52544" y="4297680"/>
            <a:ext cx="1280160" cy="27432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2544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rot="5400000">
            <a:off x="6044184" y="2331720"/>
            <a:ext cx="164592" cy="201168"/>
          </a:xfrm>
          <a:prstGeom prst="rtTriangl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300216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00216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auto_tag_rules keyword rules + namespace tag system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0216" y="4297680"/>
            <a:ext cx="1280160" cy="27432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 rot="5400000">
            <a:off x="7991856" y="2331720"/>
            <a:ext cx="164592" cy="201168"/>
          </a:xfrm>
          <a:prstGeom prst="rtTriangl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47888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8247888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report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47888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-&gt; Markdown -&gt; DOCX / PDF / HTML export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47888" y="4297680"/>
            <a:ext cx="1280160" cy="27432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47888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 rot="5400000">
            <a:off x="9939528" y="2331720"/>
            <a:ext cx="164592" cy="201168"/>
          </a:xfrm>
          <a:prstGeom prst="rtTriangl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9556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1019556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and deliver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195560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/ Email + CSV / JSON / XLSX data export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195560" y="4297680"/>
            <a:ext cx="1280160" cy="27432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9556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5303520"/>
            <a:ext cx="3703320" cy="109728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" y="5577840"/>
            <a:ext cx="274320" cy="274320"/>
          </a:xfrm>
          <a:prstGeom prst="ellips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05840" y="5897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view + live active-task tracking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97680" y="5303520"/>
            <a:ext cx="3703320" cy="109728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80560" y="5577840"/>
            <a:ext cx="274320" cy="274320"/>
          </a:xfrm>
          <a:prstGeom prst="ellips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846320" y="5897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adapters, new source in ~30 lines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138160" y="5303520"/>
            <a:ext cx="3703320" cy="109728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21040" y="5577840"/>
            <a:ext cx="274320" cy="274320"/>
          </a:xfrm>
          <a:prstGeom prst="ellips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0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686800" y="5897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+ error_log retention, replayable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.  platform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at a glance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9240" y="2743200"/>
            <a:ext cx="1463040" cy="1463040"/>
          </a:xfrm>
          <a:prstGeom prst="ellipse">
            <a:avLst/>
          </a:prstGeom>
          <a:solidFill>
            <a:srgbClr val="0B1B34"/>
          </a:solidFill>
          <a:ln w="25400">
            <a:solidFill>
              <a:srgbClr val="F5B5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4480560" cy="21945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828800"/>
            <a:ext cx="91440" cy="21945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37744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connectors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pre-built sources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+ manual trigger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tracking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3760" y="1828800"/>
            <a:ext cx="4480560" cy="21945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828800"/>
            <a:ext cx="91440" cy="21945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0" y="237744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FTS5 full-text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/ content dedupe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schema migration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4480560" cy="21945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91440" cy="21945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7548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support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summary / translate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report generation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/ PDF export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23760" y="4206240"/>
            <a:ext cx="4480560" cy="21945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4206240"/>
            <a:ext cx="91440" cy="21945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98080" y="47548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UI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main views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+ 6 shared components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Dashboard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383280"/>
            <a:ext cx="411480" cy="0"/>
          </a:xfrm>
          <a:prstGeom prst="line">
            <a:avLst/>
          </a:prstGeom>
          <a:noFill/>
          <a:ln w="19050">
            <a:solidFill>
              <a:srgbClr val="F5B5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3383280"/>
            <a:ext cx="411480" cy="0"/>
          </a:xfrm>
          <a:prstGeom prst="line">
            <a:avLst/>
          </a:prstGeom>
          <a:noFill/>
          <a:ln w="19050">
            <a:solidFill>
              <a:srgbClr val="F5B54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.  tech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frontend/backend, modular, extensible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(Rolldown) + @vitejs/plugin-react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 (dashboard, trend, distribution)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(lightweight vector)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views, ViewId state-driven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120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5120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useApi . useDebounce . usePagination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5623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+ 4px scale + 8px radius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011680"/>
            <a:ext cx="5486400" cy="429768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2011680"/>
            <a:ext cx="5486400" cy="45720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(create_app factory + lifespan)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+ Pydantic v2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8952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+ FTS5 full-text index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114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8952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async + BeautifulSoup4 parsing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4617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8952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(Cron + interval)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5120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89520" y="5120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Multi-LLM: OpenAI / Ollama / custom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0" y="5623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9520" y="5623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 (PDF) . Pandoc (DOCX)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backend 45 files / ~7000 LOC . frontend 25 + 6 shared + 3 hooks / ~5400 LOC . 50+ API endpoints . 258 test cases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.  9 collection channels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connectors, one unified contract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BaseCollector + ConnectorRegistry plug-in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70332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3120"/>
            <a:ext cx="73152" cy="12801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94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API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official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788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WTO ePing, EUR-Lex, China Customs, MOFCOM, UN Comtrade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2103120"/>
            <a:ext cx="370332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2103120"/>
            <a:ext cx="73152" cy="12801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194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8348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/ Atom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2560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2788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feed reader with auto category &amp; language detection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2103120"/>
            <a:ext cx="370332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2103120"/>
            <a:ext cx="73152" cy="12801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194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2396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21040" y="2560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web_scrape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2788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 + BeautifulSoup4, robust to layout changes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520440"/>
            <a:ext cx="370332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520440"/>
            <a:ext cx="73152" cy="12801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" y="3977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api_search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2062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(default) + Baidu / Bing / 360 delegated dispatch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97680" y="3520440"/>
            <a:ext cx="370332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3520440"/>
            <a:ext cx="73152" cy="12801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98348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480560" y="3977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json_api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42062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JSON adapter: NewsAPI, Comtrade, Trading Economics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38160" y="3520440"/>
            <a:ext cx="370332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3520440"/>
            <a:ext cx="73152" cy="12801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2396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DB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321040" y="3977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commercial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21040" y="42062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vendor data (Inoreader, Feedly) plug-in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937760"/>
            <a:ext cx="370332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937760"/>
            <a:ext cx="73152" cy="12801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5029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4300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40080" y="5394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" y="56235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scrape + API for Twitter / LinkedIn monitoring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297680" y="4937760"/>
            <a:ext cx="370332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97680" y="4937760"/>
            <a:ext cx="73152" cy="12801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5029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98348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Web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4480560" y="5394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deepweb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480560" y="56235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/ dark-net sources with safety guard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138160" y="4937760"/>
            <a:ext cx="370332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38160" y="4937760"/>
            <a:ext cx="73152" cy="12801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21040" y="5029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82396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8321040" y="5394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321040" y="56235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Operator-curated items for human intelligence input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connectors implement BaseCollector.fetch(keywords) -&gt; CollectResult - new source in ~30 lines.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.  92 pre-built sources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sources, 83 ready out of the box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30+ economies, 8 international organizations, 7 RSS categories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1828800" cy="137160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40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sources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2103120"/>
            <a:ext cx="1828800" cy="137160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240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246888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2103120"/>
            <a:ext cx="1828800" cy="137160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240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2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448056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API key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31920" y="3657600"/>
            <a:ext cx="73152" cy="548640"/>
          </a:xfrm>
          <a:prstGeom prst="rect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Intl. orgs &amp; agreements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3657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WTO . UNCTAD . OECD . IMF . World Bank . IISD . ADB . ASEAN . PIIE . CSIS . GTA . EAEU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4297680"/>
            <a:ext cx="73152" cy="548640"/>
          </a:xfrm>
          <a:prstGeom prst="rect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economies (customs &amp; trade)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(CBP / USTR / USITC / BIS / OFAC) . EU . UK . Canada . Australia . NZ . Singapore . HK . JP METI . KR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0" y="4937760"/>
            <a:ext cx="73152" cy="548640"/>
          </a:xfrm>
          <a:prstGeom prst="rect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markets (customs)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4937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DGFT . Brazil MDIC . South Africa SARS . Turkey . Vietnam . Indonesia . Mexico . Thailand . Philippines . Malaysia . Chile . Argentina . Nigeria . Kenya . Egypt . Colombia . Peru . Pakistan . Bangladesh . Sri Lanka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31920" y="5577840"/>
            <a:ext cx="73152" cy="548640"/>
          </a:xfrm>
          <a:prstGeom prst="rect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5577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regulators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5577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Administration of Customs . MOFCOM . Free Trade Zone Service Network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.  topic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topic once, harvest forever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= keywords + sources + window + cron + auto-tag + auto-report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703320" cy="9601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3120"/>
            <a:ext cx="73152" cy="96012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templates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templates for common themes (sanctions, tariffs, customs notices)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103120"/>
            <a:ext cx="3703320" cy="9601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103120"/>
            <a:ext cx="73152" cy="96012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binding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topic -&gt; N sources, batch_id tracks all runs together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3703320" cy="9601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00400"/>
            <a:ext cx="73152" cy="96012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schedule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cron expressions, APScheduler drives execution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200400"/>
            <a:ext cx="3703320" cy="9601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3200400"/>
            <a:ext cx="73152" cy="96012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window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by publish time (e.g. last 7 days) to keep data fresh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3703320" cy="9601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97680"/>
            <a:ext cx="73152" cy="96012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 rules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tags new items by keyword match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4297680"/>
            <a:ext cx="3703320" cy="9601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0" y="4297680"/>
            <a:ext cx="73152" cy="96012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8056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collection, fire-and-forget LLM report generation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2103120"/>
            <a:ext cx="3474720" cy="4114800"/>
          </a:xfrm>
          <a:prstGeom prst="rect">
            <a:avLst/>
          </a:prstGeom>
          <a:solidFill>
            <a:srgbClr val="102544"/>
          </a:solidFill>
          <a:ln w="6350">
            <a:solidFill>
              <a:srgbClr val="2F6B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2103120"/>
            <a:ext cx="3474720" cy="457200"/>
          </a:xfrm>
          <a:prstGeom prst="rect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TOPIC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6676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US-China Tariff Tracker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366760" y="3200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60120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"tariff", "Section 301", "USTR"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6676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012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USTR, USITC, MOFCOM, GTA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6676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0120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7 days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66760" y="4572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601200" y="4572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8 * * * (daily 8am)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366760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601200" y="5029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rules active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66760" y="5486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601200" y="5486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(weekly summary)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.  smart dashboard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intelligence, in one screen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ECharts-powered: trend . distribution . top tags . quick actions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2697480" cy="10058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12,847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103120"/>
            <a:ext cx="2697480" cy="10058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194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37560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topics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2697480" cy="10058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194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sources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280" y="2103120"/>
            <a:ext cx="2697480" cy="10058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2194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98280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(7d)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7223760" cy="292608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trend (30 days)</a:t>
            </a:r>
            <a:endParaRPr lang="en-US" sz="13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40080" y="3749040"/>
          <a:ext cx="68580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7863840" y="3291840"/>
            <a:ext cx="3840480" cy="292608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tags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046720" y="3840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tariff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509760" y="3904488"/>
            <a:ext cx="1584960" cy="109728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155680" y="3840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046720" y="4114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sanctions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509760" y="4178808"/>
            <a:ext cx="1254760" cy="109728"/>
          </a:xfrm>
          <a:prstGeom prst="rect">
            <a:avLst/>
          </a:prstGeom>
          <a:solidFill>
            <a:srgbClr val="E25C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155680" y="4114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247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046720" y="4389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Section301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509760" y="4453128"/>
            <a:ext cx="1005840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155680" y="4389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046720" y="4663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antidumping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9509760" y="4727448"/>
            <a:ext cx="792480" cy="109728"/>
          </a:xfrm>
          <a:prstGeom prst="rect">
            <a:avLst/>
          </a:prstGeom>
          <a:solidFill>
            <a:srgbClr val="9C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155680" y="46634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156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046720" y="4937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MOFCOM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509760" y="5001768"/>
            <a:ext cx="680720" cy="109728"/>
          </a:xfrm>
          <a:prstGeom prst="rect">
            <a:avLst/>
          </a:prstGeom>
          <a:solidFill>
            <a:srgbClr val="2EC2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155680" y="4937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134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046720" y="5212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CBAM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509760" y="5276088"/>
            <a:ext cx="497840" cy="109728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1155680" y="5212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8046720" y="5486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RCEP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509760" y="5550408"/>
            <a:ext cx="441960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1155680" y="5486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8046720" y="5760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WTO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509760" y="5824728"/>
            <a:ext cx="386080" cy="109728"/>
          </a:xfrm>
          <a:prstGeom prst="rect">
            <a:avLst/>
          </a:prstGeom>
          <a:solidFill>
            <a:srgbClr val="9C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1155680" y="5760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.  items &amp; full-text 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FTS5 full-text search across every item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title:keyword . content:phrase . boolean ops . sub-100ms on 100k+ items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5943600" cy="7772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331720"/>
            <a:ext cx="320040" cy="320040"/>
          </a:xfrm>
          <a:prstGeom prst="ellips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50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Faceted filters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source, tag, language, category, run_id, status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5943600" cy="7772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00400"/>
            <a:ext cx="320040" cy="320040"/>
          </a:xfrm>
          <a:prstGeom prst="ellips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18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FTS5 syntax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383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title:tariff . content:"anti-dumping" . boolean AND/OR/NOT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5943600" cy="7772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069080"/>
            <a:ext cx="320040" cy="320040"/>
          </a:xfrm>
          <a:prstGeom prst="ellips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873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251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Pagination, batch select, batch delete, item detail modal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5943600" cy="7772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937760"/>
            <a:ext cx="320040" cy="320040"/>
          </a:xfrm>
          <a:prstGeom prst="ellips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9560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5120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. JSON . XLSX - filtered subsets or full match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2103120"/>
            <a:ext cx="5120640" cy="411480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2514600"/>
            <a:ext cx="4754880" cy="457200"/>
          </a:xfrm>
          <a:prstGeom prst="rect">
            <a:avLst/>
          </a:prstGeom>
          <a:solidFill>
            <a:srgbClr val="0B1B34"/>
          </a:solidFill>
          <a:ln w="6350">
            <a:solidFill>
              <a:srgbClr val="F5B5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title:tariff AND source:USTR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results . 18ms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66560" y="3383280"/>
            <a:ext cx="4754880" cy="5029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3383280"/>
            <a:ext cx="54864" cy="50292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USTR Final Tariff List - Section 301 Update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03720" y="3675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USTR . 2026-05-28 . EN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3977640"/>
            <a:ext cx="4754880" cy="5029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3977640"/>
            <a:ext cx="54864" cy="50292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Hearing on Proposed Tariff Adjustments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03720" y="4270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USTR . 2026-05-22 . EN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66560" y="4572000"/>
            <a:ext cx="4754880" cy="5029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66560" y="4572000"/>
            <a:ext cx="54864" cy="50292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Exclusion Process - Q2 Review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037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USTR . 2026-05-15 . EN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66560" y="5166360"/>
            <a:ext cx="4754880" cy="5029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66560" y="5166360"/>
            <a:ext cx="54864" cy="50292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0372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USTR Announces New Tariff Investigation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03720" y="54589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USTR . 2026-05-10 . EN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.  tag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items into a queryable knowledge graph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+ value + color, M:N relation to items, mergeable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5760720" cy="5029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68880"/>
            <a:ext cx="1097280" cy="502920"/>
          </a:xfrm>
          <a:prstGeom prst="rect">
            <a:avLst/>
          </a:prstGeom>
          <a:solidFill>
            <a:srgbClr val="102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68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24688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| sanctions | anti-dumping | safeguard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5760720" cy="5029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63240"/>
            <a:ext cx="1097280" cy="502920"/>
          </a:xfrm>
          <a:prstGeom prst="rect">
            <a:avLst/>
          </a:prstGeom>
          <a:solidFill>
            <a:srgbClr val="102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0632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| EU | CN | ASEAN | RCEP | CPTPP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5760720" cy="5029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57600"/>
            <a:ext cx="1097280" cy="502920"/>
          </a:xfrm>
          <a:prstGeom prst="rect">
            <a:avLst/>
          </a:prstGeom>
          <a:solidFill>
            <a:srgbClr val="102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57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6576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| EV | steel | agriculture | pharma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5760720" cy="5029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251960"/>
            <a:ext cx="1097280" cy="502920"/>
          </a:xfrm>
          <a:prstGeom prst="rect">
            <a:avLst/>
          </a:prstGeom>
          <a:solidFill>
            <a:srgbClr val="102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51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91640" y="42519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| industry | academic | news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846320"/>
            <a:ext cx="5760720" cy="5029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846320"/>
            <a:ext cx="1097280" cy="502920"/>
          </a:xfrm>
          <a:prstGeom prst="rect">
            <a:avLst/>
          </a:prstGeom>
          <a:solidFill>
            <a:srgbClr val="102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46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48463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| alert | report | archived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CLOUD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0" y="2468880"/>
            <a:ext cx="5212080" cy="23774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606040"/>
            <a:ext cx="12545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021117" y="260604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Section301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40189" y="2606040"/>
            <a:ext cx="13478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75120" y="2971800"/>
            <a:ext cx="4462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12787" y="2971800"/>
            <a:ext cx="8814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MOFCOM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185709" y="2971800"/>
            <a:ext cx="6016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878824" y="2971800"/>
            <a:ext cx="13478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anti-dumping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75120" y="3337560"/>
            <a:ext cx="13400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06613" y="33375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82101" y="3337560"/>
            <a:ext cx="438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11996" y="3337560"/>
            <a:ext cx="5084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711842" y="3337560"/>
            <a:ext cx="7882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591495" y="3337560"/>
            <a:ext cx="6483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75120" y="3703320"/>
            <a:ext cx="9980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92240" y="5029200"/>
            <a:ext cx="5212080" cy="1188720"/>
          </a:xfrm>
          <a:prstGeom prst="rect">
            <a:avLst/>
          </a:prstGeom>
          <a:solidFill>
            <a:srgbClr val="102544"/>
          </a:solidFill>
          <a:ln w="6350">
            <a:solidFill>
              <a:srgbClr val="F5B5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operations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67512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 rules . merge dialog . per-namespace analytics . item_count tracking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675120" y="5806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tag -&gt; item relations stored in M:N table for fast faceted query.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.  smart reports &amp;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items to analyst-grade report, in one click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client + prompt templates + multi-format export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items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topic_id / run_id / tag filter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" y="3063240"/>
            <a:ext cx="0" cy="182880"/>
          </a:xfrm>
          <a:prstGeom prst="line">
            <a:avLst/>
          </a:prstGeom>
          <a:noFill/>
          <a:ln w="19050">
            <a:solidFill>
              <a:srgbClr val="284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prompt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520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topic.description_prompt or default template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3703320"/>
            <a:ext cx="0" cy="182880"/>
          </a:xfrm>
          <a:prstGeom prst="line">
            <a:avLst/>
          </a:prstGeom>
          <a:noFill/>
          <a:ln w="19050">
            <a:solidFill>
              <a:srgbClr val="2846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LLM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160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Ollama / custom endpoint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8680" y="4343400"/>
            <a:ext cx="0" cy="182880"/>
          </a:xfrm>
          <a:prstGeom prst="line">
            <a:avLst/>
          </a:prstGeom>
          <a:noFill/>
          <a:ln w="19050">
            <a:solidFill>
              <a:srgbClr val="2846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4800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reports table, item_ids link back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68680" y="4983480"/>
            <a:ext cx="0" cy="182880"/>
          </a:xfrm>
          <a:prstGeom prst="line">
            <a:avLst/>
          </a:prstGeom>
          <a:noFill/>
          <a:ln w="19050">
            <a:solidFill>
              <a:srgbClr val="2846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016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440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. HTML . DOCX (Pandoc) . PDF (WeasyPrint)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2103120"/>
            <a:ext cx="5486400" cy="19202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SUPPORT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8638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 / GPT-4-turbo / GPT-3.5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2916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63840" y="2916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Llama3 / Qwen / Mistral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3227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6384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OpenAI-compatible endpoint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0" y="3538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863840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 local Ollama for installed models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4206240"/>
            <a:ext cx="5486400" cy="2011680"/>
          </a:xfrm>
          <a:prstGeom prst="rect">
            <a:avLst/>
          </a:prstGeom>
          <a:solidFill>
            <a:srgbClr val="102544"/>
          </a:solidFill>
          <a:ln w="6350">
            <a:solidFill>
              <a:srgbClr val="F5B5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REPORT PANEL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0" y="4663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weekly summary for all active topics in one click. Reports auto-attach to topic history with full item_ids lineage.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0" y="5440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click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400800" y="5806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trigger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183880" y="5440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formats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183880" y="5806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/ HTML / DOCX / PDF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966960" y="5440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966960" y="5806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 block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.  scheduling &amp; automation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Hands-off intelligence, always on time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Cron-driven collection + auto-report + auto-notify, no babysitting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DAILY RHYTHM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247120" cy="36576"/>
          </a:xfrm>
          <a:prstGeom prst="rect">
            <a:avLst/>
          </a:prstGeom>
          <a:solidFill>
            <a:srgbClr val="284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2834640"/>
            <a:ext cx="219456" cy="219456"/>
          </a:xfrm>
          <a:prstGeom prst="ellipse">
            <a:avLst/>
          </a:prstGeom>
          <a:solidFill>
            <a:srgbClr val="F5B544"/>
          </a:solidFill>
          <a:ln w="25400">
            <a:solidFill>
              <a:srgbClr val="0B1B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tariff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collect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16352" y="2834640"/>
            <a:ext cx="219456" cy="219456"/>
          </a:xfrm>
          <a:prstGeom prst="ellipse">
            <a:avLst/>
          </a:prstGeom>
          <a:solidFill>
            <a:srgbClr val="E25C5C"/>
          </a:solidFill>
          <a:ln w="25400">
            <a:solidFill>
              <a:srgbClr val="0B1B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refresh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28032" y="2834640"/>
            <a:ext cx="219456" cy="219456"/>
          </a:xfrm>
          <a:prstGeom prst="ellipse">
            <a:avLst/>
          </a:prstGeom>
          <a:solidFill>
            <a:srgbClr val="9CC2FF"/>
          </a:solidFill>
          <a:ln w="25400">
            <a:solidFill>
              <a:srgbClr val="0B1B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6052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customs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pull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39712" y="2834640"/>
            <a:ext cx="219456" cy="219456"/>
          </a:xfrm>
          <a:prstGeom prst="ellipse">
            <a:avLst/>
          </a:prstGeom>
          <a:solidFill>
            <a:srgbClr val="2F6BFF"/>
          </a:solidFill>
          <a:ln w="25400">
            <a:solidFill>
              <a:srgbClr val="0B1B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tracker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51392" y="2834640"/>
            <a:ext cx="219456" cy="219456"/>
          </a:xfrm>
          <a:prstGeom prst="ellipse">
            <a:avLst/>
          </a:prstGeom>
          <a:solidFill>
            <a:srgbClr val="2EC27E"/>
          </a:solidFill>
          <a:ln w="25400">
            <a:solidFill>
              <a:srgbClr val="0B1B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8388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863072" y="2834640"/>
            <a:ext cx="219456" cy="219456"/>
          </a:xfrm>
          <a:prstGeom prst="ellipse">
            <a:avLst/>
          </a:prstGeom>
          <a:solidFill>
            <a:srgbClr val="F5B544"/>
          </a:solidFill>
          <a:ln w="25400">
            <a:solidFill>
              <a:srgbClr val="0B1B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19556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digest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subscribers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5486400" cy="21031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Topic-level scheduling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4572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expression per topic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window (publish-time filter)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 rules executed post-collect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 flag triggers LLM call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114800"/>
            <a:ext cx="5486400" cy="21031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scheduling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0" y="4572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multiple topics + sources in one rule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cron, no proprietary syntax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 with full error_log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Lifespan-managed APScheduler instance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.  notifications &amp; delivery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intelligence to the people who need it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- never blocks the collection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5486400" cy="8229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14600"/>
            <a:ext cx="91440" cy="8229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06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2926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HTTP POST with JSON payload - integrate with Slack, Teams, Lark, custom services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5486400" cy="8229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29000"/>
            <a:ext cx="91440" cy="82296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20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840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with HTML body + attachment support for the full report file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2514600"/>
            <a:ext cx="5212080" cy="5486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2670048"/>
            <a:ext cx="237744" cy="237744"/>
          </a:xfrm>
          <a:prstGeom prst="ellips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collection complete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28072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items for a run available in payload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3154680"/>
            <a:ext cx="5212080" cy="5486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310128"/>
            <a:ext cx="237744" cy="237744"/>
          </a:xfrm>
          <a:prstGeom prst="ellips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auto-report ready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344728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full report file (PDF/DOCX)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3794760"/>
            <a:ext cx="5212080" cy="5486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3950208"/>
            <a:ext cx="237744" cy="237744"/>
          </a:xfrm>
          <a:prstGeom prst="ellipse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error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40873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failure notification to ops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4572000"/>
            <a:ext cx="5212080" cy="1645920"/>
          </a:xfrm>
          <a:prstGeom prst="rect">
            <a:avLst/>
          </a:prstGeom>
          <a:solidFill>
            <a:srgbClr val="102544"/>
          </a:solidFill>
          <a:ln w="6350">
            <a:solidFill>
              <a:srgbClr val="F5B5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663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data export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4983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item subsets exportable as CSV . JSON . XLSX - feeds directly into downstream BI tools or compliance archives.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Test-send available in UI for every configured channel.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.  quality &amp; observability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rigor, not a weekend hack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tests . full TypeScript . error logs . audit trail . backups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269748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3120"/>
            <a:ext cx="2697480" cy="54864"/>
          </a:xfrm>
          <a:prstGeom prst="rect">
            <a:avLst/>
          </a:prstGeom>
          <a:solidFill>
            <a:srgbClr val="2EC2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(backend)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103120"/>
            <a:ext cx="269748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2103120"/>
            <a:ext cx="2697480" cy="54864"/>
          </a:xfrm>
          <a:prstGeom prst="rect">
            <a:avLst/>
          </a:prstGeom>
          <a:solidFill>
            <a:srgbClr val="2EC2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286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33756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103120"/>
            <a:ext cx="269748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103120"/>
            <a:ext cx="2697480" cy="54864"/>
          </a:xfrm>
          <a:prstGeom prst="rect">
            <a:avLst/>
          </a:prstGeom>
          <a:solidFill>
            <a:srgbClr val="2EC2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286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21792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errors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98280" y="2103120"/>
            <a:ext cx="2697480" cy="128016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2103120"/>
            <a:ext cx="2697480" cy="54864"/>
          </a:xfrm>
          <a:prstGeom prst="rect">
            <a:avLst/>
          </a:prstGeom>
          <a:solidFill>
            <a:srgbClr val="2EC2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2286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170ms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909828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5486400" cy="25603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749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1148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loop (red . green . improve) with 80%+ coverage target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&lt;= 50 lines, file &lt;= 400 lines, max 800 in extreme cases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 discipline (spread, never mutate)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error handling, structured server logs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commits: feat / fix / refactor / docs / test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657600"/>
            <a:ext cx="5486400" cy="256032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749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1148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view: group runs by batch_id, drill into errors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tasks: real-time view of running collections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 per run, retained for audit replay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backup utilities, WAL mode for crash safety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schema migration (no manual DDL on upgrade)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1B34"/>
          </a:solidFill>
          <a:ln w="12700">
            <a:solidFill>
              <a:srgbClr val="0B1B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" cy="146304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54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.  getting started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4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9525">
            <a:solidFill>
              <a:srgbClr val="28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. global trade intelligence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6601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 . multi-source . smart 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and running in 5 minutes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dev launch, Docker-ready, no DevOps required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6858000" cy="3291840"/>
          </a:xfrm>
          <a:prstGeom prst="rect">
            <a:avLst/>
          </a:prstGeom>
          <a:solidFill>
            <a:srgbClr val="06121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24028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24028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24028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zsh  .  ~/GatherInfo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606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dependencies (one time)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8163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--prefix frontend install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026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backend/.venv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2369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backend/.venv/bin/pip install -r backend/requirements.txt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4472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launch dev environment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867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07822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2885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open in browser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4988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http://localhost:5178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7091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optional: Docker one-shot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51297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2103120"/>
            <a:ext cx="4114800" cy="329184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1832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183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localhost:8109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1832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localhost:8109/docs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Dashboard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41832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localhost:9999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0" y="4343400"/>
            <a:ext cx="3840480" cy="0"/>
          </a:xfrm>
          <a:prstGeom prst="line">
            <a:avLst/>
          </a:prstGeom>
          <a:noFill/>
          <a:ln w="6350">
            <a:solidFill>
              <a:srgbClr val="284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DASHBOARD FEATURES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4709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start / stop for all services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logs from frontend + backend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file cleanup on shutdown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5532120"/>
            <a:ext cx="3703320" cy="77724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605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(npm run dev)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5897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reload, both servers, full debug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97680" y="5532120"/>
            <a:ext cx="3703320" cy="77724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0" y="5605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(startup.py)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480560" y="5897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Subprocess-based, same as dev with verbose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38160" y="5532120"/>
            <a:ext cx="3703320" cy="777240"/>
          </a:xfrm>
          <a:prstGeom prst="rect">
            <a:avLst/>
          </a:prstGeom>
          <a:solidFill>
            <a:srgbClr val="102544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21040" y="5605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(Docker)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321040" y="5897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stack, nginx reverse proxy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B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2286000"/>
          </a:xfrm>
          <a:prstGeom prst="rect">
            <a:avLst/>
          </a:prstGeom>
          <a:solidFill>
            <a:srgbClr val="102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66360" y="1371600"/>
            <a:ext cx="1828800" cy="91440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5448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0" y="256032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keyword to analyst-grade report - in one closed loop.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31089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spc="2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collection channels . 92 pre-built sources . smart reports . full observability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754880"/>
            <a:ext cx="3703320" cy="137160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754880"/>
            <a:ext cx="3703320" cy="73152"/>
          </a:xfrm>
          <a:prstGeom prst="rect">
            <a:avLst/>
          </a:prstGeom>
          <a:solidFill>
            <a:srgbClr val="F5B5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937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 and run npm run dev - 5 minutes to your first report.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4754880"/>
            <a:ext cx="3703320" cy="137160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4754880"/>
            <a:ext cx="3703320" cy="73152"/>
          </a:xfrm>
          <a:prstGeom prst="rect">
            <a:avLst/>
          </a:prstGeom>
          <a:solidFill>
            <a:srgbClr val="2F6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4937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80560" y="5440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custom source in ~30 lines via the BaseCollector contract.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4754880"/>
            <a:ext cx="3703320" cy="1371600"/>
          </a:xfrm>
          <a:prstGeom prst="rect">
            <a:avLst/>
          </a:prstGeom>
          <a:solidFill>
            <a:srgbClr val="18324F"/>
          </a:solidFill>
          <a:ln w="6350">
            <a:solidFill>
              <a:srgbClr val="284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4754880"/>
            <a:ext cx="3703320" cy="73152"/>
          </a:xfrm>
          <a:prstGeom prst="rect">
            <a:avLst/>
          </a:prstGeom>
          <a:solidFill>
            <a:srgbClr val="2EC2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4937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5440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- production stack with nginx in one command.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64008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GatherInfo  .  v1.0  .  2026  .  MIT License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GatherInfo - global trade intelligence platform</dc:title>
  <dc:subject>PptxGenJS Presentation</dc:subject>
  <dc:creator>GatherInfo</dc:creator>
  <cp:lastModifiedBy>GatherInfo</cp:lastModifiedBy>
  <cp:revision>1</cp:revision>
  <dcterms:created xsi:type="dcterms:W3CDTF">2026-06-09T16:04:19Z</dcterms:created>
  <dcterms:modified xsi:type="dcterms:W3CDTF">2026-06-09T16:04:19Z</dcterms:modified>
</cp:coreProperties>
</file>